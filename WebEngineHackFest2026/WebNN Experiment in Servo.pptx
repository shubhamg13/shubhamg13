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ef05c8ff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ef05c8ff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ef05c8ff_0_1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ef05c8ff_0_1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bef05c8ff_0_1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bef05c8ff_0_1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bef05c8ff_0_3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bef05c8ff_0_3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bef05c8ff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bef05c8ff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bef05c8ff_0_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bef05c8ff_0_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bef05c8ff_0_2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bef05c8ff_0_2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bef05c8ff_0_2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bef05c8ff_0_2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bef05c8ff_0_2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bef05c8ff_0_2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bef05c8ff_0_2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bef05c8ff_0_2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bef05c8ff_0_2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bef05c8ff_0_2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bef05c8ff_0_3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bef05c8ff_0_3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bef05c8ff_0_3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bef05c8ff_0_3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ef05c8ff_12_0)">
  <p:cSld name="Generated (g3ebef05c8ff_12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0.jpg"/><Relationship Id="rId7" Type="http://schemas.openxmlformats.org/officeDocument/2006/relationships/image" Target="../media/image44.jpg"/><Relationship Id="rId8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2.jpg"/><Relationship Id="rId5" Type="http://schemas.openxmlformats.org/officeDocument/2006/relationships/image" Target="../media/image18.jpg"/><Relationship Id="rId6" Type="http://schemas.openxmlformats.org/officeDocument/2006/relationships/image" Target="../media/image15.jpg"/><Relationship Id="rId7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22.jpg"/><Relationship Id="rId5" Type="http://schemas.openxmlformats.org/officeDocument/2006/relationships/image" Target="../media/image20.jpg"/><Relationship Id="rId6" Type="http://schemas.openxmlformats.org/officeDocument/2006/relationships/image" Target="../media/image2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jpg"/><Relationship Id="rId4" Type="http://schemas.openxmlformats.org/officeDocument/2006/relationships/image" Target="../media/image36.jpg"/><Relationship Id="rId5" Type="http://schemas.openxmlformats.org/officeDocument/2006/relationships/image" Target="../media/image38.jpg"/><Relationship Id="rId6" Type="http://schemas.openxmlformats.org/officeDocument/2006/relationships/image" Target="../media/image4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jpg"/><Relationship Id="rId4" Type="http://schemas.openxmlformats.org/officeDocument/2006/relationships/image" Target="../media/image27.jpg"/><Relationship Id="rId5" Type="http://schemas.openxmlformats.org/officeDocument/2006/relationships/image" Target="../media/image33.jpg"/><Relationship Id="rId6" Type="http://schemas.openxmlformats.org/officeDocument/2006/relationships/image" Target="../media/image4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Relationship Id="rId4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jpg"/><Relationship Id="rId4" Type="http://schemas.openxmlformats.org/officeDocument/2006/relationships/hyperlink" Target="http://github.com/gterzian/servo/tree/webnn" TargetMode="External"/><Relationship Id="rId5" Type="http://schemas.openxmlformats.org/officeDocument/2006/relationships/image" Target="../media/image26.jpg"/><Relationship Id="rId6" Type="http://schemas.openxmlformats.org/officeDocument/2006/relationships/hyperlink" Target="http://github.com/rustnn" TargetMode="Externa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jpg"/><Relationship Id="rId10" Type="http://schemas.openxmlformats.org/officeDocument/2006/relationships/image" Target="../media/image43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5.jpg"/><Relationship Id="rId4" Type="http://schemas.openxmlformats.org/officeDocument/2006/relationships/image" Target="../media/image42.png"/><Relationship Id="rId9" Type="http://schemas.openxmlformats.org/officeDocument/2006/relationships/hyperlink" Target="mailto:shubham.gupta@chromium.org" TargetMode="External"/><Relationship Id="rId5" Type="http://schemas.openxmlformats.org/officeDocument/2006/relationships/image" Target="../media/image35.png"/><Relationship Id="rId6" Type="http://schemas.openxmlformats.org/officeDocument/2006/relationships/hyperlink" Target="http://github.com/shubhamg13" TargetMode="External"/><Relationship Id="rId7" Type="http://schemas.openxmlformats.org/officeDocument/2006/relationships/hyperlink" Target="https://www.linkedin.com/in/shubhamg13/" TargetMode="External"/><Relationship Id="rId8" Type="http://schemas.openxmlformats.org/officeDocument/2006/relationships/hyperlink" Target="https://www.linkedin.com/in/shubhamg1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681" y="1241867"/>
            <a:ext cx="8520600" cy="1040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WebNN Experiment in </a:t>
            </a:r>
            <a:endParaRPr b="1" sz="48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3132162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8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Shubham Gupta</a:t>
            </a:r>
            <a:endParaRPr sz="2380">
              <a:solidFill>
                <a:srgbClr val="595959"/>
              </a:solidFill>
            </a:endParaRPr>
          </a:p>
        </p:txBody>
      </p:sp>
      <p:pic>
        <p:nvPicPr>
          <p:cNvPr id="57" name="Google Shape;57;p14" title="servo-color-posit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937" y="1711100"/>
            <a:ext cx="3947975" cy="18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 title="logo-webnn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4225" y="283725"/>
            <a:ext cx="4975525" cy="9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311700" y="3729179"/>
            <a:ext cx="8520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25">
                <a:solidFill>
                  <a:srgbClr val="757575"/>
                </a:solidFill>
              </a:rPr>
              <a:t>Igalia WebEngine Hackfest 2026, June 16, </a:t>
            </a:r>
            <a:r>
              <a:rPr b="1" lang="en" sz="1725">
                <a:solidFill>
                  <a:srgbClr val="757575"/>
                </a:solidFill>
              </a:rPr>
              <a:t>Remote</a:t>
            </a:r>
            <a:endParaRPr b="1" i="0" sz="1725">
              <a:solidFill>
                <a:srgbClr val="757575"/>
              </a:solidFill>
            </a:endParaRPr>
          </a:p>
        </p:txBody>
      </p:sp>
      <p:pic>
        <p:nvPicPr>
          <p:cNvPr id="60" name="Google Shape;60;p14" title="logo200x200Margin-o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9750" y="3917800"/>
            <a:ext cx="1882845" cy="9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title="Huawei-Logo.win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1376" y="3769323"/>
            <a:ext cx="1882849" cy="125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5"/>
          <p:cNvGrpSpPr/>
          <p:nvPr/>
        </p:nvGrpSpPr>
        <p:grpSpPr>
          <a:xfrm>
            <a:off x="381000" y="381000"/>
            <a:ext cx="8382000" cy="809775"/>
            <a:chOff x="381000" y="381000"/>
            <a:chExt cx="8382000" cy="809775"/>
          </a:xfrm>
        </p:grpSpPr>
        <p:sp>
          <p:nvSpPr>
            <p:cNvPr id="67" name="Google Shape;67;p15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Agenda: Exploring WebNN</a:t>
              </a:r>
              <a:endParaRPr b="1" sz="3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381000" y="904875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The future of high-performance AI on the web</a:t>
              </a:r>
              <a:endParaRPr b="0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381000" y="1333500"/>
            <a:ext cx="4953000" cy="381000"/>
            <a:chOff x="0" y="-95250"/>
            <a:chExt cx="4953000" cy="3810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-95250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-9525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0" y="-9525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00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 txBox="1"/>
            <p:nvPr/>
          </p:nvSpPr>
          <p:spPr>
            <a:xfrm>
              <a:off x="523875" y="-95250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Traditional AI Flow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5"/>
          <p:cNvGrpSpPr/>
          <p:nvPr/>
        </p:nvGrpSpPr>
        <p:grpSpPr>
          <a:xfrm>
            <a:off x="381000" y="2190750"/>
            <a:ext cx="4953000" cy="381000"/>
            <a:chOff x="0" y="238125"/>
            <a:chExt cx="4953000" cy="381000"/>
          </a:xfrm>
        </p:grpSpPr>
        <p:sp>
          <p:nvSpPr>
            <p:cNvPr id="75" name="Google Shape;75;p15"/>
            <p:cNvSpPr/>
            <p:nvPr/>
          </p:nvSpPr>
          <p:spPr>
            <a:xfrm>
              <a:off x="0" y="23812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0" y="2381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 txBox="1"/>
            <p:nvPr/>
          </p:nvSpPr>
          <p:spPr>
            <a:xfrm>
              <a:off x="0" y="23812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523875" y="23812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WebNN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381000" y="2619375"/>
            <a:ext cx="4953000" cy="381000"/>
            <a:chOff x="0" y="142875"/>
            <a:chExt cx="4953000" cy="3810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14287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14287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0" y="14287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523875" y="14287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WebNN: Unlocking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381000" y="3048000"/>
            <a:ext cx="4953000" cy="381000"/>
            <a:chOff x="0" y="47625"/>
            <a:chExt cx="4953000" cy="381000"/>
          </a:xfrm>
        </p:grpSpPr>
        <p:sp>
          <p:nvSpPr>
            <p:cNvPr id="85" name="Google Shape;85;p15"/>
            <p:cNvSpPr/>
            <p:nvPr/>
          </p:nvSpPr>
          <p:spPr>
            <a:xfrm>
              <a:off x="0" y="4762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0" y="476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0" y="4762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523875" y="4762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Benefits over Standalone Web or Native ML Models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381000" y="3476625"/>
            <a:ext cx="4953000" cy="381000"/>
            <a:chOff x="0" y="-47625"/>
            <a:chExt cx="4953000" cy="3810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-4762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0" y="-476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0" y="-4762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523875" y="-4762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Usage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381000" y="3905250"/>
            <a:ext cx="4953000" cy="381000"/>
            <a:chOff x="0" y="-142875"/>
            <a:chExt cx="4953000" cy="3810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-14287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-14287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0" y="-14287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23875" y="-14287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A Little Experiment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15"/>
          <p:cNvGrpSpPr/>
          <p:nvPr/>
        </p:nvGrpSpPr>
        <p:grpSpPr>
          <a:xfrm>
            <a:off x="381000" y="4333875"/>
            <a:ext cx="4953000" cy="381000"/>
            <a:chOff x="0" y="-238125"/>
            <a:chExt cx="4953000" cy="3810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-23812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0" y="-2381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0" y="-23812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07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523875" y="-23812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WebNN Components in Servo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 sleek, minimalist digital workspace with a glowing laptop screen displaying abstract neural network connections. Use a clean tech aesthetic with Google-style blue and gray tones.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19998" r="20004" t="0"/>
          <a:stretch/>
        </p:blipFill>
        <p:spPr>
          <a:xfrm>
            <a:off x="5715000" y="1143000"/>
            <a:ext cx="3048000" cy="3810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grpSp>
        <p:nvGrpSpPr>
          <p:cNvPr id="105" name="Google Shape;105;p15"/>
          <p:cNvGrpSpPr/>
          <p:nvPr/>
        </p:nvGrpSpPr>
        <p:grpSpPr>
          <a:xfrm>
            <a:off x="381000" y="1762125"/>
            <a:ext cx="4953000" cy="381000"/>
            <a:chOff x="381000" y="1762125"/>
            <a:chExt cx="4953000" cy="381000"/>
          </a:xfrm>
        </p:grpSpPr>
        <p:sp>
          <p:nvSpPr>
            <p:cNvPr id="106" name="Google Shape;106;p15"/>
            <p:cNvSpPr/>
            <p:nvPr/>
          </p:nvSpPr>
          <p:spPr>
            <a:xfrm>
              <a:off x="381000" y="1762125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381000" y="17621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 txBox="1"/>
            <p:nvPr/>
          </p:nvSpPr>
          <p:spPr>
            <a:xfrm>
              <a:off x="381000" y="1762125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904875" y="1762125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NPUs in Flagship Devices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381000" y="4762500"/>
            <a:ext cx="4953000" cy="381000"/>
            <a:chOff x="381000" y="4762500"/>
            <a:chExt cx="4953000" cy="381000"/>
          </a:xfrm>
        </p:grpSpPr>
        <p:sp>
          <p:nvSpPr>
            <p:cNvPr id="111" name="Google Shape;111;p15"/>
            <p:cNvSpPr/>
            <p:nvPr/>
          </p:nvSpPr>
          <p:spPr>
            <a:xfrm>
              <a:off x="381000" y="4762500"/>
              <a:ext cx="4953000" cy="381000"/>
            </a:xfrm>
            <a:prstGeom prst="roundRect">
              <a:avLst>
                <a:gd fmla="val 2000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81000" y="47625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381000" y="476250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08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904875" y="4762500"/>
              <a:ext cx="42864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Similar Projects</a:t>
              </a:r>
              <a:endParaRPr b="0" sz="12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15"/>
          <p:cNvSpPr/>
          <p:nvPr/>
        </p:nvSpPr>
        <p:spPr>
          <a:xfrm>
            <a:off x="5715000" y="1143000"/>
            <a:ext cx="3048000" cy="3810000"/>
          </a:xfrm>
          <a:prstGeom prst="roundRect">
            <a:avLst>
              <a:gd fmla="val 5000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6"/>
          <p:cNvGrpSpPr/>
          <p:nvPr/>
        </p:nvGrpSpPr>
        <p:grpSpPr>
          <a:xfrm>
            <a:off x="381000" y="381000"/>
            <a:ext cx="8382000" cy="857400"/>
            <a:chOff x="0" y="0"/>
            <a:chExt cx="8382000" cy="857400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Traditional AI Workflow</a:t>
              </a:r>
              <a:endParaRPr b="1" sz="36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0" y="571500"/>
              <a:ext cx="838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How AI computations typically flow to remote servers</a:t>
              </a:r>
              <a:endParaRPr b="0" sz="18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2952750" y="2895600"/>
            <a:ext cx="395250" cy="114300"/>
            <a:chOff x="2952750" y="2895600"/>
            <a:chExt cx="395250" cy="114300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52750" y="2943225"/>
              <a:ext cx="342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600" y="2895600"/>
              <a:ext cx="714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16"/>
          <p:cNvGrpSpPr/>
          <p:nvPr/>
        </p:nvGrpSpPr>
        <p:grpSpPr>
          <a:xfrm>
            <a:off x="5810250" y="2895600"/>
            <a:ext cx="395250" cy="114300"/>
            <a:chOff x="5810250" y="2895600"/>
            <a:chExt cx="395250" cy="114300"/>
          </a:xfrm>
        </p:grpSpPr>
        <p:pic>
          <p:nvPicPr>
            <p:cNvPr id="128" name="Google Shape;12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0" y="2943225"/>
              <a:ext cx="342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34100" y="2895600"/>
              <a:ext cx="71400" cy="11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6"/>
          <p:cNvGrpSpPr/>
          <p:nvPr/>
        </p:nvGrpSpPr>
        <p:grpSpPr>
          <a:xfrm>
            <a:off x="476250" y="1524000"/>
            <a:ext cx="2476500" cy="2857500"/>
            <a:chOff x="476250" y="1524000"/>
            <a:chExt cx="2476500" cy="2857500"/>
          </a:xfrm>
        </p:grpSpPr>
        <p:sp>
          <p:nvSpPr>
            <p:cNvPr id="131" name="Google Shape;131;p16"/>
            <p:cNvSpPr/>
            <p:nvPr/>
          </p:nvSpPr>
          <p:spPr>
            <a:xfrm>
              <a:off x="476250" y="1524000"/>
              <a:ext cx="2476500" cy="28575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2" name="Google Shape;132;p16"/>
            <p:cNvPicPr preferRelativeResize="0"/>
            <p:nvPr/>
          </p:nvPicPr>
          <p:blipFill rotWithShape="1">
            <a:blip r:embed="rId6">
              <a:alphaModFix/>
            </a:blip>
            <a:srcRect b="11366" l="0" r="0" t="11366"/>
            <a:stretch/>
          </p:blipFill>
          <p:spPr>
            <a:xfrm>
              <a:off x="476250" y="1524000"/>
              <a:ext cx="2476500" cy="1428900"/>
            </a:xfrm>
            <a:prstGeom prst="roundRect">
              <a:avLst>
                <a:gd fmla="val 10666" name="adj"/>
              </a:avLst>
            </a:prstGeom>
            <a:noFill/>
            <a:ln>
              <a:noFill/>
            </a:ln>
          </p:spPr>
        </p:pic>
        <p:sp>
          <p:nvSpPr>
            <p:cNvPr id="133" name="Google Shape;133;p16"/>
            <p:cNvSpPr/>
            <p:nvPr/>
          </p:nvSpPr>
          <p:spPr>
            <a:xfrm>
              <a:off x="476250" y="2571750"/>
              <a:ext cx="2476500" cy="381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619125" y="3095625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619125" y="3095625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01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619125" y="33813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Data Input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User provides data (image, text, voice) to the web browser interface.</a:t>
              </a:r>
              <a:endParaRPr b="0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3333750" y="1524000"/>
            <a:ext cx="2476500" cy="2857500"/>
            <a:chOff x="3333750" y="1524000"/>
            <a:chExt cx="2476500" cy="2857500"/>
          </a:xfrm>
        </p:grpSpPr>
        <p:sp>
          <p:nvSpPr>
            <p:cNvPr id="138" name="Google Shape;138;p16"/>
            <p:cNvSpPr/>
            <p:nvPr/>
          </p:nvSpPr>
          <p:spPr>
            <a:xfrm>
              <a:off x="3333750" y="1524000"/>
              <a:ext cx="2476500" cy="28575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p16"/>
            <p:cNvPicPr preferRelativeResize="0"/>
            <p:nvPr/>
          </p:nvPicPr>
          <p:blipFill rotWithShape="1">
            <a:blip r:embed="rId7">
              <a:alphaModFix/>
            </a:blip>
            <a:srcRect b="11366" l="0" r="0" t="11366"/>
            <a:stretch/>
          </p:blipFill>
          <p:spPr>
            <a:xfrm>
              <a:off x="3333750" y="1524000"/>
              <a:ext cx="2476500" cy="1428900"/>
            </a:xfrm>
            <a:prstGeom prst="roundRect">
              <a:avLst>
                <a:gd fmla="val 10666" name="adj"/>
              </a:avLst>
            </a:prstGeom>
            <a:noFill/>
            <a:ln>
              <a:noFill/>
            </a:ln>
          </p:spPr>
        </p:pic>
        <p:sp>
          <p:nvSpPr>
            <p:cNvPr id="140" name="Google Shape;140;p16"/>
            <p:cNvSpPr/>
            <p:nvPr/>
          </p:nvSpPr>
          <p:spPr>
            <a:xfrm>
              <a:off x="3333750" y="2571750"/>
              <a:ext cx="2476500" cy="381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3476625" y="3095625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3476625" y="3095625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02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3476625" y="33813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Cloud Transit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Data is transmitted over the network to a high-performance remote server.</a:t>
              </a:r>
              <a:endParaRPr b="0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6191250" y="1524000"/>
            <a:ext cx="2476500" cy="2857500"/>
            <a:chOff x="6191250" y="1524000"/>
            <a:chExt cx="2476500" cy="2857500"/>
          </a:xfrm>
        </p:grpSpPr>
        <p:sp>
          <p:nvSpPr>
            <p:cNvPr id="145" name="Google Shape;145;p16"/>
            <p:cNvSpPr/>
            <p:nvPr/>
          </p:nvSpPr>
          <p:spPr>
            <a:xfrm>
              <a:off x="6191250" y="1524000"/>
              <a:ext cx="2476500" cy="2857500"/>
            </a:xfrm>
            <a:prstGeom prst="roundRect">
              <a:avLst>
                <a:gd fmla="val 61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" name="Google Shape;146;p16"/>
            <p:cNvPicPr preferRelativeResize="0"/>
            <p:nvPr/>
          </p:nvPicPr>
          <p:blipFill rotWithShape="1">
            <a:blip r:embed="rId8">
              <a:alphaModFix/>
            </a:blip>
            <a:srcRect b="11366" l="0" r="0" t="11366"/>
            <a:stretch/>
          </p:blipFill>
          <p:spPr>
            <a:xfrm>
              <a:off x="6191250" y="1524000"/>
              <a:ext cx="2476500" cy="1428900"/>
            </a:xfrm>
            <a:prstGeom prst="roundRect">
              <a:avLst>
                <a:gd fmla="val 10666" name="adj"/>
              </a:avLst>
            </a:prstGeom>
            <a:noFill/>
            <a:ln>
              <a:noFill/>
            </a:ln>
          </p:spPr>
        </p:pic>
        <p:sp>
          <p:nvSpPr>
            <p:cNvPr id="147" name="Google Shape;147;p16"/>
            <p:cNvSpPr/>
            <p:nvPr/>
          </p:nvSpPr>
          <p:spPr>
            <a:xfrm>
              <a:off x="6191250" y="2571750"/>
              <a:ext cx="2476500" cy="381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6334125" y="3095625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F9A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6334125" y="3095625"/>
              <a:ext cx="76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 03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6334125" y="3381375"/>
              <a:ext cx="2190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Inference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The remote server performs AI inference and sends the result back to the user.</a:t>
              </a:r>
              <a:endParaRPr b="0"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>
            <a:off x="381000" y="381000"/>
            <a:ext cx="8382000" cy="904875"/>
            <a:chOff x="0" y="0"/>
            <a:chExt cx="8382000" cy="904875"/>
          </a:xfrm>
        </p:grpSpPr>
        <p:sp>
          <p:nvSpPr>
            <p:cNvPr id="157" name="Google Shape;157;p17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NPUs in Flagship Devices</a:t>
              </a:r>
              <a:endParaRPr b="1" sz="36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0" y="523875"/>
              <a:ext cx="8382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Dedicated AI silicon powering the next generation of mobile experiences</a:t>
              </a:r>
              <a:endParaRPr b="0" sz="18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381000" y="1428750"/>
            <a:ext cx="2000100" cy="3238500"/>
            <a:chOff x="381000" y="1428750"/>
            <a:chExt cx="2000100" cy="3238500"/>
          </a:xfrm>
        </p:grpSpPr>
        <p:sp>
          <p:nvSpPr>
            <p:cNvPr id="160" name="Google Shape;160;p17"/>
            <p:cNvSpPr/>
            <p:nvPr/>
          </p:nvSpPr>
          <p:spPr>
            <a:xfrm>
              <a:off x="381000" y="1428750"/>
              <a:ext cx="2000100" cy="3238500"/>
            </a:xfrm>
            <a:prstGeom prst="roundRect">
              <a:avLst>
                <a:gd fmla="val 7619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1" name="Google Shape;161;p17"/>
            <p:cNvPicPr preferRelativeResize="0"/>
            <p:nvPr/>
          </p:nvPicPr>
          <p:blipFill rotWithShape="1">
            <a:blip r:embed="rId4">
              <a:alphaModFix/>
            </a:blip>
            <a:srcRect b="16667" l="0" r="0" t="16667"/>
            <a:stretch/>
          </p:blipFill>
          <p:spPr>
            <a:xfrm>
              <a:off x="381000" y="1428750"/>
              <a:ext cx="20001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7"/>
            <p:cNvSpPr/>
            <p:nvPr/>
          </p:nvSpPr>
          <p:spPr>
            <a:xfrm>
              <a:off x="523875" y="2905125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523875" y="2905125"/>
              <a:ext cx="762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SAMSUNG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523875" y="3190875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Exynos &amp; Snapdragon</a:t>
              </a:r>
              <a:endParaRPr b="1" sz="1203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523875" y="3619500"/>
              <a:ext cx="1714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Powering Galaxy AI features like live translation and generative photo editing.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2524125" y="1428750"/>
            <a:ext cx="2000100" cy="3238500"/>
            <a:chOff x="2524125" y="1428750"/>
            <a:chExt cx="2000100" cy="3238500"/>
          </a:xfrm>
        </p:grpSpPr>
        <p:sp>
          <p:nvSpPr>
            <p:cNvPr id="167" name="Google Shape;167;p17"/>
            <p:cNvSpPr/>
            <p:nvPr/>
          </p:nvSpPr>
          <p:spPr>
            <a:xfrm>
              <a:off x="2524125" y="1428750"/>
              <a:ext cx="2000100" cy="3238500"/>
            </a:xfrm>
            <a:prstGeom prst="roundRect">
              <a:avLst>
                <a:gd fmla="val 7619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" name="Google Shape;168;p17"/>
            <p:cNvPicPr preferRelativeResize="0"/>
            <p:nvPr/>
          </p:nvPicPr>
          <p:blipFill rotWithShape="1">
            <a:blip r:embed="rId5">
              <a:alphaModFix/>
            </a:blip>
            <a:srcRect b="16667" l="0" r="0" t="16667"/>
            <a:stretch/>
          </p:blipFill>
          <p:spPr>
            <a:xfrm>
              <a:off x="2524125" y="1428750"/>
              <a:ext cx="20001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7"/>
            <p:cNvSpPr/>
            <p:nvPr/>
          </p:nvSpPr>
          <p:spPr>
            <a:xfrm>
              <a:off x="2667000" y="2905125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EA43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2667000" y="2905125"/>
              <a:ext cx="762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GOOGLE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2667000" y="3190875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Google Tensor TPU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2667000" y="3619500"/>
              <a:ext cx="1714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Drives Magic Eraser, Real Tone, and on-device speech recognition for Pixel devices.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7"/>
          <p:cNvGrpSpPr/>
          <p:nvPr/>
        </p:nvGrpSpPr>
        <p:grpSpPr>
          <a:xfrm>
            <a:off x="4667250" y="1428750"/>
            <a:ext cx="2000100" cy="3238500"/>
            <a:chOff x="4667250" y="1428750"/>
            <a:chExt cx="2000100" cy="3238500"/>
          </a:xfrm>
        </p:grpSpPr>
        <p:sp>
          <p:nvSpPr>
            <p:cNvPr id="174" name="Google Shape;174;p17"/>
            <p:cNvSpPr/>
            <p:nvPr/>
          </p:nvSpPr>
          <p:spPr>
            <a:xfrm>
              <a:off x="4667250" y="1428750"/>
              <a:ext cx="2000100" cy="3238500"/>
            </a:xfrm>
            <a:prstGeom prst="roundRect">
              <a:avLst>
                <a:gd fmla="val 7619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5" name="Google Shape;175;p17"/>
            <p:cNvPicPr preferRelativeResize="0"/>
            <p:nvPr/>
          </p:nvPicPr>
          <p:blipFill rotWithShape="1">
            <a:blip r:embed="rId6">
              <a:alphaModFix/>
            </a:blip>
            <a:srcRect b="16667" l="0" r="0" t="16667"/>
            <a:stretch/>
          </p:blipFill>
          <p:spPr>
            <a:xfrm>
              <a:off x="4667250" y="1428750"/>
              <a:ext cx="2000100" cy="13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7"/>
            <p:cNvSpPr/>
            <p:nvPr/>
          </p:nvSpPr>
          <p:spPr>
            <a:xfrm>
              <a:off x="4810125" y="2905125"/>
              <a:ext cx="762000" cy="2286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4810125" y="2905125"/>
              <a:ext cx="762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APPLE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4810125" y="3190875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Apple Neural Engine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4810125" y="3619500"/>
              <a:ext cx="1714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The backbone of FaceID, Siri, and computational photography on iPhone.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6810375" y="1428750"/>
            <a:ext cx="2000100" cy="3238500"/>
            <a:chOff x="6810375" y="1428750"/>
            <a:chExt cx="2000100" cy="3238500"/>
          </a:xfrm>
        </p:grpSpPr>
        <p:sp>
          <p:nvSpPr>
            <p:cNvPr id="181" name="Google Shape;181;p17"/>
            <p:cNvSpPr/>
            <p:nvPr/>
          </p:nvSpPr>
          <p:spPr>
            <a:xfrm>
              <a:off x="6810375" y="1428750"/>
              <a:ext cx="2000100" cy="3238500"/>
            </a:xfrm>
            <a:prstGeom prst="roundRect">
              <a:avLst>
                <a:gd fmla="val 7619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2" name="Google Shape;182;p17"/>
            <p:cNvPicPr preferRelativeResize="0"/>
            <p:nvPr/>
          </p:nvPicPr>
          <p:blipFill rotWithShape="1">
            <a:blip r:embed="rId7">
              <a:alphaModFix/>
            </a:blip>
            <a:srcRect b="6036" l="219" r="229" t="5076"/>
            <a:stretch/>
          </p:blipFill>
          <p:spPr>
            <a:xfrm>
              <a:off x="6810375" y="1428750"/>
              <a:ext cx="2000100" cy="1333500"/>
            </a:xfrm>
            <a:prstGeom prst="roundRect">
              <a:avLst>
                <a:gd fmla="val 11428" name="adj"/>
              </a:avLst>
            </a:prstGeom>
            <a:noFill/>
            <a:ln>
              <a:noFill/>
            </a:ln>
          </p:spPr>
        </p:pic>
        <p:sp>
          <p:nvSpPr>
            <p:cNvPr id="183" name="Google Shape;183;p17"/>
            <p:cNvSpPr/>
            <p:nvPr/>
          </p:nvSpPr>
          <p:spPr>
            <a:xfrm>
              <a:off x="6953250" y="2905125"/>
              <a:ext cx="857400" cy="228600"/>
            </a:xfrm>
            <a:prstGeom prst="roundRect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6953250" y="2905125"/>
              <a:ext cx="8574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HARMONYOS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6953250" y="3190875"/>
              <a:ext cx="1714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Huawei Kirin NPU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6953250" y="3619500"/>
              <a:ext cx="17145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Powers cross-device AI collaboration and real-time scene recognition in HarmonyOS.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4762500" y="1524000"/>
            <a:ext cx="4000500" cy="3048000"/>
            <a:chOff x="4762500" y="1524000"/>
            <a:chExt cx="4000500" cy="3048000"/>
          </a:xfrm>
        </p:grpSpPr>
        <p:sp>
          <p:nvSpPr>
            <p:cNvPr id="193" name="Google Shape;193;p18"/>
            <p:cNvSpPr/>
            <p:nvPr/>
          </p:nvSpPr>
          <p:spPr>
            <a:xfrm>
              <a:off x="4762500" y="1524000"/>
              <a:ext cx="4000500" cy="3048000"/>
            </a:xfrm>
            <a:prstGeom prst="roundRect">
              <a:avLst>
                <a:gd fmla="val 5000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5048250" y="1809750"/>
              <a:ext cx="3429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WebNN enables websites to talk directly to your computer's local "brain" for high-performance AI results.</a:t>
              </a:r>
              <a:endParaRPr sz="14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A73E8"/>
                </a:buClr>
                <a:buSzPts val="1400"/>
                <a:buFont typeface="Arial"/>
                <a:buChar char="●"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NPU </a:t>
              </a:r>
              <a:r>
                <a:rPr b="0" lang="en" sz="14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(Neural Processing Unit)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73E8"/>
                </a:buClr>
                <a:buSzPts val="1400"/>
                <a:buFont typeface="Arial"/>
                <a:buChar char="●"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GPU </a:t>
              </a:r>
              <a:r>
                <a:rPr b="0" lang="en" sz="14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(Graphics Processing Unit)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73E8"/>
                </a:buClr>
                <a:buSzPts val="1400"/>
                <a:buFont typeface="Arial"/>
                <a:buChar char="●"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CPU </a:t>
              </a:r>
              <a:r>
                <a:rPr b="0" lang="en" sz="14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(Central Processing Unit)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Result: Instant AI without cloud dependency.</a:t>
              </a:r>
              <a:endParaRPr i="1" sz="12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381000" y="381000"/>
            <a:ext cx="8382000" cy="904875"/>
            <a:chOff x="0" y="0"/>
            <a:chExt cx="8382000" cy="904875"/>
          </a:xfrm>
        </p:grpSpPr>
        <p:sp>
          <p:nvSpPr>
            <p:cNvPr id="196" name="Google Shape;196;p18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WebNN</a:t>
              </a:r>
              <a:endParaRPr b="1" sz="3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0" y="523875"/>
              <a:ext cx="8382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The "Bridge" between your browser and on-device hardware</a:t>
              </a:r>
              <a:endParaRPr b="0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381000" y="1508075"/>
            <a:ext cx="4191000" cy="3048000"/>
            <a:chOff x="0" y="0"/>
            <a:chExt cx="4191000" cy="3048000"/>
          </a:xfrm>
        </p:grpSpPr>
        <p:sp>
          <p:nvSpPr>
            <p:cNvPr id="199" name="Google Shape;199;p18"/>
            <p:cNvSpPr/>
            <p:nvPr/>
          </p:nvSpPr>
          <p:spPr>
            <a:xfrm>
              <a:off x="0" y="0"/>
              <a:ext cx="4191000" cy="3048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riendly digital illustration of a computer processor (CPU/GPU) shaking hands with a web browser icon. Vibrant, clean tech style." id="200" name="Google Shape;200;p18"/>
            <p:cNvPicPr preferRelativeResize="0"/>
            <p:nvPr/>
          </p:nvPicPr>
          <p:blipFill rotWithShape="1">
            <a:blip r:embed="rId3">
              <a:alphaModFix/>
            </a:blip>
            <a:srcRect b="16667" l="0" r="0" t="16667"/>
            <a:stretch/>
          </p:blipFill>
          <p:spPr>
            <a:xfrm>
              <a:off x="381000" y="190500"/>
              <a:ext cx="3429000" cy="2286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9"/>
          <p:cNvGrpSpPr/>
          <p:nvPr/>
        </p:nvGrpSpPr>
        <p:grpSpPr>
          <a:xfrm>
            <a:off x="381000" y="381000"/>
            <a:ext cx="8382000" cy="809775"/>
            <a:chOff x="381000" y="381000"/>
            <a:chExt cx="8382000" cy="809775"/>
          </a:xfrm>
        </p:grpSpPr>
        <p:sp>
          <p:nvSpPr>
            <p:cNvPr id="206" name="Google Shape;206;p19"/>
            <p:cNvSpPr txBox="1"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WebNN : </a:t>
              </a:r>
              <a:r>
                <a:rPr b="1" lang="en" sz="32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Unlocking</a:t>
              </a:r>
              <a:endParaRPr b="1" sz="3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9"/>
            <p:cNvSpPr txBox="1"/>
            <p:nvPr/>
          </p:nvSpPr>
          <p:spPr>
            <a:xfrm>
              <a:off x="381000" y="904875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Unlocking the full potential of on-device AI hardware for the web.</a:t>
              </a:r>
              <a:endParaRPr b="0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19"/>
          <p:cNvGrpSpPr/>
          <p:nvPr/>
        </p:nvGrpSpPr>
        <p:grpSpPr>
          <a:xfrm>
            <a:off x="381000" y="1524000"/>
            <a:ext cx="4191000" cy="3048000"/>
            <a:chOff x="381000" y="1524000"/>
            <a:chExt cx="4191000" cy="3048000"/>
          </a:xfrm>
        </p:grpSpPr>
        <p:sp>
          <p:nvSpPr>
            <p:cNvPr id="209" name="Google Shape;209;p19"/>
            <p:cNvSpPr/>
            <p:nvPr/>
          </p:nvSpPr>
          <p:spPr>
            <a:xfrm>
              <a:off x="381000" y="1524000"/>
              <a:ext cx="4191000" cy="3048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uturistic digital visualization of a brain-shaped circuit board glowing with neon blue energy, representing high-performance neural network processing. Clean white background." id="210" name="Google Shape;210;p19"/>
            <p:cNvPicPr preferRelativeResize="0"/>
            <p:nvPr/>
          </p:nvPicPr>
          <p:blipFill rotWithShape="1">
            <a:blip r:embed="rId3">
              <a:alphaModFix/>
            </a:blip>
            <a:srcRect b="1522" l="0" r="0" t="1513"/>
            <a:stretch/>
          </p:blipFill>
          <p:spPr>
            <a:xfrm>
              <a:off x="381000" y="1524000"/>
              <a:ext cx="4191000" cy="30480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</p:grpSp>
      <p:grpSp>
        <p:nvGrpSpPr>
          <p:cNvPr id="211" name="Google Shape;211;p19"/>
          <p:cNvGrpSpPr/>
          <p:nvPr/>
        </p:nvGrpSpPr>
        <p:grpSpPr>
          <a:xfrm>
            <a:off x="4857750" y="1524000"/>
            <a:ext cx="3905400" cy="952500"/>
            <a:chOff x="4857750" y="1524000"/>
            <a:chExt cx="3905400" cy="952500"/>
          </a:xfrm>
        </p:grpSpPr>
        <p:sp>
          <p:nvSpPr>
            <p:cNvPr id="212" name="Google Shape;212;p19"/>
            <p:cNvSpPr/>
            <p:nvPr/>
          </p:nvSpPr>
          <p:spPr>
            <a:xfrm>
              <a:off x="4857750" y="152400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5000625" y="1666875"/>
              <a:ext cx="619200" cy="1905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5000625" y="166687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SPEED</a:t>
              </a:r>
              <a:endParaRPr b="1" sz="7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5000625" y="190500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Ultra-Low Latency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5000625" y="21431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Executes ML models directly on local silicon, removing round-trip delays to the cloud.</a:t>
              </a:r>
              <a:endParaRPr b="0" sz="76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4857750" y="2571750"/>
            <a:ext cx="3905400" cy="952500"/>
            <a:chOff x="4857750" y="2571750"/>
            <a:chExt cx="3905400" cy="952500"/>
          </a:xfrm>
        </p:grpSpPr>
        <p:sp>
          <p:nvSpPr>
            <p:cNvPr id="218" name="Google Shape;218;p19"/>
            <p:cNvSpPr/>
            <p:nvPr/>
          </p:nvSpPr>
          <p:spPr>
            <a:xfrm>
              <a:off x="4857750" y="257175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E6F4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5000625" y="2714625"/>
              <a:ext cx="619200" cy="1905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5000625" y="271462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SECURITY</a:t>
              </a:r>
              <a:endParaRPr b="1" sz="7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5000625" y="295275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Privacy by Design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5000625" y="319087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Sensitive user data never leaves the device, ensuring enterprise-grade data sovereignty.</a:t>
              </a:r>
              <a:endParaRPr b="0" sz="76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19"/>
          <p:cNvGrpSpPr/>
          <p:nvPr/>
        </p:nvGrpSpPr>
        <p:grpSpPr>
          <a:xfrm>
            <a:off x="4857750" y="3619500"/>
            <a:ext cx="3905400" cy="952500"/>
            <a:chOff x="4857750" y="3619500"/>
            <a:chExt cx="3905400" cy="952500"/>
          </a:xfrm>
        </p:grpSpPr>
        <p:sp>
          <p:nvSpPr>
            <p:cNvPr id="224" name="Google Shape;224;p19"/>
            <p:cNvSpPr/>
            <p:nvPr/>
          </p:nvSpPr>
          <p:spPr>
            <a:xfrm>
              <a:off x="4857750" y="3619500"/>
              <a:ext cx="3905400" cy="952500"/>
            </a:xfrm>
            <a:prstGeom prst="roundRect">
              <a:avLst>
                <a:gd fmla="val 8000" name="adj"/>
              </a:avLst>
            </a:prstGeom>
            <a:solidFill>
              <a:srgbClr val="FEF7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5000625" y="3762375"/>
              <a:ext cx="619200" cy="190500"/>
            </a:xfrm>
            <a:prstGeom prst="roundRect">
              <a:avLst>
                <a:gd fmla="val 50000" name="adj"/>
              </a:avLst>
            </a:prstGeom>
            <a:solidFill>
              <a:srgbClr val="F9A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 txBox="1"/>
            <p:nvPr/>
          </p:nvSpPr>
          <p:spPr>
            <a:xfrm>
              <a:off x="5000625" y="3762375"/>
              <a:ext cx="619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EFFICIENCY</a:t>
              </a:r>
              <a:endParaRPr b="1" sz="7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9"/>
            <p:cNvSpPr txBox="1"/>
            <p:nvPr/>
          </p:nvSpPr>
          <p:spPr>
            <a:xfrm>
              <a:off x="5000625" y="4000500"/>
              <a:ext cx="3619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Energy Optimization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5000625" y="42386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6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Offloads heavy compute to dedicated NPUs, significantly extending mobile battery life.</a:t>
              </a:r>
              <a:endParaRPr b="0" sz="76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Benefits Over Standalone Native ML Models</a:t>
            </a:r>
            <a:endParaRPr b="1" sz="296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81000" y="9048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Solving the friction of traditional app-bundled AI deployments</a:t>
            </a:r>
            <a:endParaRPr b="0" sz="16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428625" y="1524000"/>
            <a:ext cx="1952700" cy="2857500"/>
            <a:chOff x="0" y="0"/>
            <a:chExt cx="1952700" cy="2857500"/>
          </a:xfrm>
        </p:grpSpPr>
        <p:sp>
          <p:nvSpPr>
            <p:cNvPr id="237" name="Google Shape;237;p20"/>
            <p:cNvSpPr/>
            <p:nvPr/>
          </p:nvSpPr>
          <p:spPr>
            <a:xfrm>
              <a:off x="0" y="0"/>
              <a:ext cx="1952700" cy="28575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, minimalist digital illustration of a web browser address bar with a &quot;magic&quot; spark icon, representing instant web access without installation." id="238" name="Google Shape;238;p20"/>
            <p:cNvPicPr preferRelativeResize="0"/>
            <p:nvPr/>
          </p:nvPicPr>
          <p:blipFill rotWithShape="1">
            <a:blip r:embed="rId3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39" name="Google Shape;239;p20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142875" y="1571625"/>
              <a:ext cx="1666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Zero Friction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Users run advanced AI instantly via URL, avoiding large, untrusted installation files.</a:t>
              </a:r>
              <a:endParaRPr b="0" sz="105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2571750" y="1524000"/>
            <a:ext cx="1952700" cy="2857500"/>
            <a:chOff x="0" y="0"/>
            <a:chExt cx="1952700" cy="2857500"/>
          </a:xfrm>
        </p:grpSpPr>
        <p:sp>
          <p:nvSpPr>
            <p:cNvPr id="243" name="Google Shape;243;p20"/>
            <p:cNvSpPr/>
            <p:nvPr/>
          </p:nvSpPr>
          <p:spPr>
            <a:xfrm>
              <a:off x="0" y="0"/>
              <a:ext cx="1952700" cy="28575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bstract interconnected geometric shapes representing different operating system logos (Windows, Mac, Linux) linked by a central web node." id="244" name="Google Shape;244;p20"/>
            <p:cNvPicPr preferRelativeResize="0"/>
            <p:nvPr/>
          </p:nvPicPr>
          <p:blipFill rotWithShape="1">
            <a:blip r:embed="rId4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45" name="Google Shape;245;p20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SCALE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142875" y="1571625"/>
              <a:ext cx="1666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Cross-Platform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Single JavaScript implementation runs across Windows, macOS, Android, and Linux.</a:t>
              </a:r>
              <a:endParaRPr b="0" sz="105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" name="Google Shape;248;p20"/>
          <p:cNvGrpSpPr/>
          <p:nvPr/>
        </p:nvGrpSpPr>
        <p:grpSpPr>
          <a:xfrm>
            <a:off x="4714875" y="1524000"/>
            <a:ext cx="1952700" cy="2857500"/>
            <a:chOff x="0" y="0"/>
            <a:chExt cx="1952700" cy="2857500"/>
          </a:xfrm>
        </p:grpSpPr>
        <p:sp>
          <p:nvSpPr>
            <p:cNvPr id="249" name="Google Shape;249;p20"/>
            <p:cNvSpPr/>
            <p:nvPr/>
          </p:nvSpPr>
          <p:spPr>
            <a:xfrm>
              <a:off x="0" y="0"/>
              <a:ext cx="1952700" cy="28575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 visualization of data flowing down from a cloud into a device, representing a seamless automatic update process." id="250" name="Google Shape;250;p20"/>
            <p:cNvPicPr preferRelativeResize="0"/>
            <p:nvPr/>
          </p:nvPicPr>
          <p:blipFill rotWithShape="1">
            <a:blip r:embed="rId5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51" name="Google Shape;251;p20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F9A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UPDATES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42875" y="1571625"/>
              <a:ext cx="1666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Instant Sync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Remote server updates deliver the latest AI logic to all users upon a simple page refresh.</a:t>
              </a:r>
              <a:endParaRPr b="0" sz="105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6858000" y="1524000"/>
            <a:ext cx="1952700" cy="2857500"/>
            <a:chOff x="0" y="0"/>
            <a:chExt cx="1952700" cy="2857500"/>
          </a:xfrm>
        </p:grpSpPr>
        <p:sp>
          <p:nvSpPr>
            <p:cNvPr id="255" name="Google Shape;255;p20"/>
            <p:cNvSpPr/>
            <p:nvPr/>
          </p:nvSpPr>
          <p:spPr>
            <a:xfrm>
              <a:off x="0" y="0"/>
              <a:ext cx="1952700" cy="28575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technical schematic showing a single layer connecting multiple underlying hardware APIs like DirectML and CoreML." id="256" name="Google Shape;256;p20"/>
            <p:cNvPicPr preferRelativeResize="0"/>
            <p:nvPr/>
          </p:nvPicPr>
          <p:blipFill rotWithShape="1">
            <a:blip r:embed="rId6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57" name="Google Shape;257;p20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D930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UNIFIED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42875" y="1571625"/>
              <a:ext cx="1666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OS Abstraction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Acts as a universal translation layer for DirectML, CoreML, and OpenVINO APIs.</a:t>
              </a:r>
              <a:endParaRPr b="0" sz="105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Benefits Over Standard Web ML Frameworks</a:t>
            </a:r>
            <a:endParaRPr b="1" sz="30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381000" y="9048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Bypassing CPU/WASM bottlenecks for near-native performance</a:t>
            </a:r>
            <a:endParaRPr b="0" sz="16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21"/>
          <p:cNvGrpSpPr/>
          <p:nvPr/>
        </p:nvGrpSpPr>
        <p:grpSpPr>
          <a:xfrm>
            <a:off x="428625" y="1524000"/>
            <a:ext cx="1952700" cy="3048000"/>
            <a:chOff x="0" y="0"/>
            <a:chExt cx="1952700" cy="3048000"/>
          </a:xfrm>
        </p:grpSpPr>
        <p:sp>
          <p:nvSpPr>
            <p:cNvPr id="268" name="Google Shape;268;p21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technical visualization showing a web browser communicating directly with hardware chips like CPU, GPU, and NPU through a glowing blue bridge." id="269" name="Google Shape;269;p21"/>
            <p:cNvPicPr preferRelativeResize="0"/>
            <p:nvPr/>
          </p:nvPicPr>
          <p:blipFill rotWithShape="1">
            <a:blip r:embed="rId3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70" name="Google Shape;270;p21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1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b="1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142875" y="1571625"/>
              <a:ext cx="1666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Direct Hardware Access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WebNN talks to native OS APIs like DirectML, CoreML, or Android NNAPI. (via Browser</a:t>
              </a:r>
              <a:r>
                <a:rPr lang="en" sz="1000">
                  <a:solidFill>
                    <a:srgbClr val="3C4043"/>
                  </a:solidFill>
                </a:rPr>
                <a:t>’</a:t>
              </a: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 </a:t>
              </a:r>
              <a:r>
                <a:rPr lang="en" sz="1000">
                  <a:solidFill>
                    <a:srgbClr val="3C4043"/>
                  </a:solidFill>
                </a:rPr>
                <a:t>privileged</a:t>
              </a: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 process)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2571750" y="1524000"/>
            <a:ext cx="1952700" cy="3048000"/>
            <a:chOff x="0" y="0"/>
            <a:chExt cx="1952700" cy="30480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futuristic circuit board with a dedicated NPU chip glowing with green energy, highlighting specialized AI acceleration." id="275" name="Google Shape;275;p21"/>
            <p:cNvPicPr preferRelativeResize="0"/>
            <p:nvPr/>
          </p:nvPicPr>
          <p:blipFill rotWithShape="1">
            <a:blip r:embed="rId4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76" name="Google Shape;276;p21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ACCELERATION</a:t>
              </a:r>
              <a:endParaRPr b="1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142875" y="1571625"/>
              <a:ext cx="1666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NPU Unlocked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Standard web engines cannot natively use NPUs. WebNN enables high-efficiency, low-power AI processing.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4714875" y="1524000"/>
            <a:ext cx="1952700" cy="3048000"/>
            <a:chOff x="0" y="0"/>
            <a:chExt cx="1952700" cy="3048000"/>
          </a:xfrm>
        </p:grpSpPr>
        <p:sp>
          <p:nvSpPr>
            <p:cNvPr id="280" name="Google Shape;280;p21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laptop with a battery icon showing full health and leaves, representing sustainable and power-efficient computing." id="281" name="Google Shape;281;p21"/>
            <p:cNvPicPr preferRelativeResize="0"/>
            <p:nvPr/>
          </p:nvPicPr>
          <p:blipFill rotWithShape="1">
            <a:blip r:embed="rId5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82" name="Google Shape;282;p21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F9A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POWER</a:t>
              </a:r>
              <a:endParaRPr b="1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142875" y="1571625"/>
              <a:ext cx="1666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Massive Efficiency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Offloading tasks to dedicated NPUs drastically reduces battery drain during continuous web AI operations.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21"/>
          <p:cNvGrpSpPr/>
          <p:nvPr/>
        </p:nvGrpSpPr>
        <p:grpSpPr>
          <a:xfrm>
            <a:off x="6858000" y="1524000"/>
            <a:ext cx="1952700" cy="3048000"/>
            <a:chOff x="0" y="0"/>
            <a:chExt cx="1952700" cy="3048000"/>
          </a:xfrm>
        </p:grpSpPr>
        <p:sp>
          <p:nvSpPr>
            <p:cNvPr id="286" name="Google Shape;286;p21"/>
            <p:cNvSpPr/>
            <p:nvPr/>
          </p:nvSpPr>
          <p:spPr>
            <a:xfrm>
              <a:off x="0" y="0"/>
              <a:ext cx="1952700" cy="3048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ean, abstract representation of mathematical matrices and data flow, symbolizing high-speed computation." id="287" name="Google Shape;287;p21"/>
            <p:cNvPicPr preferRelativeResize="0"/>
            <p:nvPr/>
          </p:nvPicPr>
          <p:blipFill rotWithShape="1">
            <a:blip r:embed="rId6">
              <a:alphaModFix/>
            </a:blip>
            <a:srcRect b="0" l="1951" r="1960" t="0"/>
            <a:stretch/>
          </p:blipFill>
          <p:spPr>
            <a:xfrm>
              <a:off x="0" y="0"/>
              <a:ext cx="19527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288" name="Google Shape;288;p21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D930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THROUGHPUT</a:t>
              </a:r>
              <a:endParaRPr b="1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142875" y="1571625"/>
              <a:ext cx="16668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Native Speed</a:t>
              </a:r>
              <a:endParaRPr b="1" sz="13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Optimized math operators like matrix multiplication run at near-native speeds inside the browser.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22"/>
          <p:cNvGrpSpPr/>
          <p:nvPr/>
        </p:nvGrpSpPr>
        <p:grpSpPr>
          <a:xfrm>
            <a:off x="381000" y="381000"/>
            <a:ext cx="8382000" cy="809775"/>
            <a:chOff x="0" y="0"/>
            <a:chExt cx="8382000" cy="809775"/>
          </a:xfrm>
        </p:grpSpPr>
        <p:sp>
          <p:nvSpPr>
            <p:cNvPr id="297" name="Google Shape;297;p22"/>
            <p:cNvSpPr txBox="1"/>
            <p:nvPr/>
          </p:nvSpPr>
          <p:spPr>
            <a:xfrm>
              <a:off x="0" y="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96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WebNN Usage Scenarios</a:t>
              </a:r>
              <a:endParaRPr b="1" sz="296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0" y="523875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5F6368"/>
                  </a:solidFill>
                  <a:latin typeface="Arial"/>
                  <a:ea typeface="Arial"/>
                  <a:cs typeface="Arial"/>
                  <a:sym typeface="Arial"/>
                </a:rPr>
                <a:t>Transforming web experiences with native hardware acceleration</a:t>
              </a:r>
              <a:endParaRPr b="0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22"/>
          <p:cNvGrpSpPr/>
          <p:nvPr/>
        </p:nvGrpSpPr>
        <p:grpSpPr>
          <a:xfrm>
            <a:off x="428625" y="1524000"/>
            <a:ext cx="1952700" cy="2667000"/>
            <a:chOff x="0" y="0"/>
            <a:chExt cx="1952700" cy="2667000"/>
          </a:xfrm>
        </p:grpSpPr>
        <p:sp>
          <p:nvSpPr>
            <p:cNvPr id="300" name="Google Shape;300;p22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lose-up of a person's face with digital mesh points for real-time tracking, clean tech style." id="301" name="Google Shape;301;p22"/>
            <p:cNvPicPr preferRelativeResize="0"/>
            <p:nvPr/>
          </p:nvPicPr>
          <p:blipFill rotWithShape="1">
            <a:blip r:embed="rId3">
              <a:alphaModFix/>
            </a:blip>
            <a:srcRect b="0" l="1950" r="4303" t="0"/>
            <a:stretch/>
          </p:blipFill>
          <p:spPr>
            <a:xfrm>
              <a:off x="0" y="0"/>
              <a:ext cx="19050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302" name="Google Shape;302;p22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VISION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142875" y="157162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Face &amp; Gesture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Real-time background blur, face tracking, and gesture control for video conferencing.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2571750" y="1524000"/>
            <a:ext cx="1952700" cy="2667000"/>
            <a:chOff x="0" y="0"/>
            <a:chExt cx="1952700" cy="2667000"/>
          </a:xfrm>
        </p:grpSpPr>
        <p:sp>
          <p:nvSpPr>
            <p:cNvPr id="306" name="Google Shape;306;p22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bstract sound waves transitioning into digital text, minimalist Google aesthetic." id="307" name="Google Shape;307;p22"/>
            <p:cNvPicPr preferRelativeResize="0"/>
            <p:nvPr/>
          </p:nvPicPr>
          <p:blipFill rotWithShape="1">
            <a:blip r:embed="rId4">
              <a:alphaModFix/>
            </a:blip>
            <a:srcRect b="0" l="1950" r="4303" t="0"/>
            <a:stretch/>
          </p:blipFill>
          <p:spPr>
            <a:xfrm>
              <a:off x="0" y="0"/>
              <a:ext cx="19050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308" name="Google Shape;308;p22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AUDIO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142875" y="157162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Speech Coding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High-quality noise suppression and real-time local transcription for private meetings.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22"/>
          <p:cNvGrpSpPr/>
          <p:nvPr/>
        </p:nvGrpSpPr>
        <p:grpSpPr>
          <a:xfrm>
            <a:off x="4714875" y="1524000"/>
            <a:ext cx="1952700" cy="2667000"/>
            <a:chOff x="0" y="0"/>
            <a:chExt cx="1952700" cy="266700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Macro shot of high-quality digital pixels being sharpened, clean and bright." id="313" name="Google Shape;313;p22"/>
            <p:cNvPicPr preferRelativeResize="0"/>
            <p:nvPr/>
          </p:nvPicPr>
          <p:blipFill rotWithShape="1">
            <a:blip r:embed="rId5">
              <a:alphaModFix/>
            </a:blip>
            <a:srcRect b="0" l="1950" r="4303" t="0"/>
            <a:stretch/>
          </p:blipFill>
          <p:spPr>
            <a:xfrm>
              <a:off x="0" y="0"/>
              <a:ext cx="19050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314" name="Google Shape;314;p22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F9AB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MEDIA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2"/>
            <p:cNvSpPr txBox="1"/>
            <p:nvPr/>
          </p:nvSpPr>
          <p:spPr>
            <a:xfrm>
              <a:off x="142875" y="157162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Super Resolution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Upscaling low-resolution images and videos directly in the browser using NPU power.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22"/>
          <p:cNvGrpSpPr/>
          <p:nvPr/>
        </p:nvGrpSpPr>
        <p:grpSpPr>
          <a:xfrm>
            <a:off x="6858000" y="1524000"/>
            <a:ext cx="1952700" cy="2667000"/>
            <a:chOff x="0" y="0"/>
            <a:chExt cx="1952700" cy="2667000"/>
          </a:xfrm>
        </p:grpSpPr>
        <p:sp>
          <p:nvSpPr>
            <p:cNvPr id="318" name="Google Shape;318;p22"/>
            <p:cNvSpPr/>
            <p:nvPr/>
          </p:nvSpPr>
          <p:spPr>
            <a:xfrm>
              <a:off x="0" y="0"/>
              <a:ext cx="1952700" cy="2667000"/>
            </a:xfrm>
            <a:prstGeom prst="roundRect">
              <a:avLst>
                <a:gd fmla="val 5853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Creative digital art being generated by a neural network, vibrant and futuristic." id="319" name="Google Shape;319;p22"/>
            <p:cNvPicPr preferRelativeResize="0"/>
            <p:nvPr/>
          </p:nvPicPr>
          <p:blipFill rotWithShape="1">
            <a:blip r:embed="rId6">
              <a:alphaModFix/>
            </a:blip>
            <a:srcRect b="0" l="1950" r="4303" t="0"/>
            <a:stretch/>
          </p:blipFill>
          <p:spPr>
            <a:xfrm>
              <a:off x="0" y="0"/>
              <a:ext cx="1905000" cy="1143000"/>
            </a:xfrm>
            <a:prstGeom prst="roundRect">
              <a:avLst>
                <a:gd fmla="val 10000" name="adj"/>
              </a:avLst>
            </a:prstGeom>
            <a:noFill/>
            <a:ln>
              <a:noFill/>
            </a:ln>
          </p:spPr>
        </p:pic>
        <p:sp>
          <p:nvSpPr>
            <p:cNvPr id="320" name="Google Shape;320;p22"/>
            <p:cNvSpPr/>
            <p:nvPr/>
          </p:nvSpPr>
          <p:spPr>
            <a:xfrm>
              <a:off x="142875" y="1285875"/>
              <a:ext cx="762000" cy="190500"/>
            </a:xfrm>
            <a:prstGeom prst="roundRect">
              <a:avLst>
                <a:gd fmla="val 50000" name="adj"/>
              </a:avLst>
            </a:prstGeom>
            <a:solidFill>
              <a:srgbClr val="D930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142875" y="12858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CREATIVE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142875" y="1571625"/>
              <a:ext cx="1666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Generative AI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On-device Stable Diffusion or LLM execution for fast, private content creation.</a:t>
              </a:r>
              <a:endParaRPr b="0" sz="10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WebNN in Servo</a:t>
            </a:r>
            <a:endParaRPr b="1" sz="30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 txBox="1"/>
          <p:nvPr/>
        </p:nvSpPr>
        <p:spPr>
          <a:xfrm>
            <a:off x="381000" y="8572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High-performance neural network inference in the Servo web engine</a:t>
            </a:r>
            <a:endParaRPr b="0" sz="16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23"/>
          <p:cNvGrpSpPr/>
          <p:nvPr/>
        </p:nvGrpSpPr>
        <p:grpSpPr>
          <a:xfrm>
            <a:off x="428625" y="1524000"/>
            <a:ext cx="4095900" cy="3048000"/>
            <a:chOff x="428625" y="1524000"/>
            <a:chExt cx="4095900" cy="3048000"/>
          </a:xfrm>
        </p:grpSpPr>
        <p:sp>
          <p:nvSpPr>
            <p:cNvPr id="331" name="Google Shape;331;p23"/>
            <p:cNvSpPr/>
            <p:nvPr/>
          </p:nvSpPr>
          <p:spPr>
            <a:xfrm>
              <a:off x="428625" y="152400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technical visualization of the LeNet-5 neural network architecture showing layers of neurons and connections, clean blue tech style." id="332" name="Google Shape;332;p23"/>
            <p:cNvPicPr preferRelativeResize="0"/>
            <p:nvPr/>
          </p:nvPicPr>
          <p:blipFill rotWithShape="1">
            <a:blip r:embed="rId3">
              <a:alphaModFix/>
            </a:blip>
            <a:srcRect b="4523" l="0" r="2325" t="12791"/>
            <a:stretch/>
          </p:blipFill>
          <p:spPr>
            <a:xfrm>
              <a:off x="428625" y="1524000"/>
              <a:ext cx="40005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333" name="Google Shape;333;p23"/>
            <p:cNvSpPr/>
            <p:nvPr/>
          </p:nvSpPr>
          <p:spPr>
            <a:xfrm>
              <a:off x="619125" y="3381375"/>
              <a:ext cx="762000" cy="2097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3"/>
            <p:cNvSpPr txBox="1"/>
            <p:nvPr/>
          </p:nvSpPr>
          <p:spPr>
            <a:xfrm>
              <a:off x="619125" y="3381375"/>
              <a:ext cx="762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SAMPLES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3"/>
            <p:cNvSpPr txBox="1"/>
            <p:nvPr/>
          </p:nvSpPr>
          <p:spPr>
            <a:xfrm>
              <a:off x="619125" y="366712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LeNet Handwritten Digit Recognition</a:t>
              </a:r>
              <a:endParaRPr b="1" sz="1295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Running classical CNN models like LeNet in Servo via WebNN, enabling fast and efficient character recognition directly in the engine.</a:t>
              </a:r>
              <a:endParaRPr b="0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23"/>
          <p:cNvGrpSpPr/>
          <p:nvPr/>
        </p:nvGrpSpPr>
        <p:grpSpPr>
          <a:xfrm>
            <a:off x="4619625" y="1524000"/>
            <a:ext cx="4095900" cy="3048000"/>
            <a:chOff x="4619625" y="1524000"/>
            <a:chExt cx="4095900" cy="3048000"/>
          </a:xfrm>
        </p:grpSpPr>
        <p:sp>
          <p:nvSpPr>
            <p:cNvPr id="337" name="Google Shape;337;p23"/>
            <p:cNvSpPr/>
            <p:nvPr/>
          </p:nvSpPr>
          <p:spPr>
            <a:xfrm>
              <a:off x="4619625" y="152400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high-tech face recognition interface with a digital scan overlay on a human face, Servo browser UI elements visible, minimalist aesthetic." id="338" name="Google Shape;338;p23"/>
            <p:cNvPicPr preferRelativeResize="0"/>
            <p:nvPr/>
          </p:nvPicPr>
          <p:blipFill rotWithShape="1">
            <a:blip r:embed="rId4">
              <a:alphaModFix/>
            </a:blip>
            <a:srcRect b="4523" l="0" r="2325" t="12791"/>
            <a:stretch/>
          </p:blipFill>
          <p:spPr>
            <a:xfrm>
              <a:off x="4619625" y="1524000"/>
              <a:ext cx="4000500" cy="1905000"/>
            </a:xfrm>
            <a:prstGeom prst="roundRect">
              <a:avLst>
                <a:gd fmla="val 6000" name="adj"/>
              </a:avLst>
            </a:prstGeom>
            <a:noFill/>
            <a:ln>
              <a:noFill/>
            </a:ln>
          </p:spPr>
        </p:pic>
        <p:sp>
          <p:nvSpPr>
            <p:cNvPr id="339" name="Google Shape;339;p23"/>
            <p:cNvSpPr/>
            <p:nvPr/>
          </p:nvSpPr>
          <p:spPr>
            <a:xfrm>
              <a:off x="4810125" y="3381375"/>
              <a:ext cx="1238400" cy="2097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4810125" y="3381375"/>
              <a:ext cx="1238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FACE RECOGNITION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3"/>
            <p:cNvSpPr txBox="1"/>
            <p:nvPr/>
          </p:nvSpPr>
          <p:spPr>
            <a:xfrm>
              <a:off x="4810125" y="3667125"/>
              <a:ext cx="371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Real-time Biometric Analysis</a:t>
              </a:r>
              <a:endParaRPr b="1" sz="1295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Leveraging hardware acceleration for face detection and recognition samples, showcasing Servo's capability to handle complex vision tasks.</a:t>
              </a:r>
              <a:endParaRPr b="0" sz="971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381000" y="285750"/>
            <a:ext cx="8382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Servo Architecture Components for WebNN</a:t>
            </a:r>
            <a:endParaRPr b="1" sz="28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4"/>
          <p:cNvSpPr txBox="1"/>
          <p:nvPr/>
        </p:nvSpPr>
        <p:spPr>
          <a:xfrm>
            <a:off x="381000" y="71437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WebNN Implementation with LiteRT Backend Architecture Overview</a:t>
            </a:r>
            <a:endParaRPr b="0" sz="14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381000" y="1190625"/>
            <a:ext cx="2190900" cy="3476700"/>
          </a:xfrm>
          <a:prstGeom prst="roundRect">
            <a:avLst>
              <a:gd fmla="val 521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571500" y="1333500"/>
            <a:ext cx="762000" cy="190500"/>
          </a:xfrm>
          <a:prstGeom prst="roundRect">
            <a:avLst>
              <a:gd fmla="val 50000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571500" y="13335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1" sz="7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4"/>
          <p:cNvSpPr txBox="1"/>
          <p:nvPr/>
        </p:nvSpPr>
        <p:spPr>
          <a:xfrm>
            <a:off x="571500" y="1619250"/>
            <a:ext cx="1809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JavaScript (WebNN API)</a:t>
            </a:r>
            <a:endParaRPr b="1" sz="12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DOM Bindings</a:t>
            </a:r>
            <a:endParaRPr b="0" sz="9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• MLGraphBuilder</a:t>
            </a:r>
            <a:b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• MLContext.dispatch</a:t>
            </a:r>
            <a:b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• MLTensor</a:t>
            </a:r>
            <a:endParaRPr b="0" sz="775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components/script/dom/webnn/</a:t>
            </a:r>
            <a:br>
              <a:rPr lang="en" sz="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(~3,069 lines)</a:t>
            </a:r>
            <a:endParaRPr sz="85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2762250" y="1190625"/>
            <a:ext cx="6000900" cy="3476700"/>
          </a:xfrm>
          <a:prstGeom prst="roundRect">
            <a:avLst>
              <a:gd fmla="val 3287" name="adj"/>
            </a:avLst>
          </a:prstGeom>
          <a:solidFill>
            <a:srgbClr val="F8F9FA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2952750" y="1333500"/>
            <a:ext cx="1143000" cy="190500"/>
          </a:xfrm>
          <a:prstGeom prst="roundRect">
            <a:avLst>
              <a:gd fmla="val 50000" name="adj"/>
            </a:avLst>
          </a:prstGeom>
          <a:solidFill>
            <a:srgbClr val="1E8E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2952750" y="13335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SERVO-WEBNN CRATE</a:t>
            </a:r>
            <a:endParaRPr b="1" sz="775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0" y="2324100"/>
            <a:ext cx="1905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/>
          <p:nvPr/>
        </p:nvSpPr>
        <p:spPr>
          <a:xfrm>
            <a:off x="2952750" y="1666875"/>
            <a:ext cx="26670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3048000" y="171450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Phase 1: Pre-processing</a:t>
            </a:r>
            <a:endParaRPr b="1" sz="12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insert_nhwc_transposes()</a:t>
            </a:r>
            <a:endParaRPr b="0" sz="775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NCHW → NHWC Conversion</a:t>
            </a:r>
            <a:endParaRPr b="0" sz="9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2952750" y="2476500"/>
            <a:ext cx="26670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3048000" y="2524125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Phase 2: Optimization</a:t>
            </a:r>
            <a:endParaRPr b="1" sz="12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eliminate_transpose_pairs()</a:t>
            </a:r>
            <a:endParaRPr b="0" sz="775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Redundant TRANSPOSE removal</a:t>
            </a:r>
            <a:endParaRPr b="0" sz="9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2952750" y="3286125"/>
            <a:ext cx="26670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DAD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3048000" y="333375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Compiler Engine</a:t>
            </a:r>
            <a:endParaRPr b="1" sz="12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GraphNode[] → TFLite flatbuffer</a:t>
            </a:r>
            <a:endParaRPr b="0" sz="775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compiler.rs (~2,800 lines)</a:t>
            </a:r>
            <a:endParaRPr b="0" sz="9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0" y="2333625"/>
            <a:ext cx="1143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4"/>
          <p:cNvSpPr/>
          <p:nvPr/>
        </p:nvSpPr>
        <p:spPr>
          <a:xfrm>
            <a:off x="5810250" y="1666875"/>
            <a:ext cx="2762400" cy="2286000"/>
          </a:xfrm>
          <a:prstGeom prst="roundRect">
            <a:avLst>
              <a:gd fmla="val 3333" name="adj"/>
            </a:avLst>
          </a:prstGeom>
          <a:solidFill>
            <a:srgbClr val="E8F0FE"/>
          </a:solidFill>
          <a:ln cap="flat" cmpd="sng" w="95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5953125" y="1809750"/>
            <a:ext cx="24765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LiteRT Backend</a:t>
            </a:r>
            <a:endParaRPr b="1" sz="12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Execution Provider</a:t>
            </a:r>
            <a:endParaRPr b="0" sz="9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Compiles and runs via </a:t>
            </a:r>
            <a:r>
              <a:rPr b="1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litert-sys FFI</a:t>
            </a:r>
            <a:r>
              <a:rPr b="0" lang="en" sz="77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rPr>
              <a:t> bridge.</a:t>
            </a:r>
            <a:endParaRPr b="0" sz="775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litert.rs (~515 lines)</a:t>
            </a:r>
            <a:endParaRPr sz="85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3562350"/>
            <a:ext cx="1905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4"/>
          <p:cNvSpPr txBox="1"/>
          <p:nvPr/>
        </p:nvSpPr>
        <p:spPr>
          <a:xfrm>
            <a:off x="2952750" y="4238625"/>
            <a:ext cx="5619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components/webnn/ (~4,200 lines total)</a:t>
            </a:r>
            <a:endParaRPr sz="850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Similar Projects</a:t>
            </a:r>
            <a:endParaRPr b="1" sz="30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5"/>
          <p:cNvSpPr txBox="1"/>
          <p:nvPr/>
        </p:nvSpPr>
        <p:spPr>
          <a:xfrm>
            <a:off x="381000" y="90487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Exploring related neural network implementations in Rust and Servo</a:t>
            </a:r>
            <a:endParaRPr b="0" sz="16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25"/>
          <p:cNvGrpSpPr/>
          <p:nvPr/>
        </p:nvGrpSpPr>
        <p:grpSpPr>
          <a:xfrm>
            <a:off x="4667100" y="1238250"/>
            <a:ext cx="4095900" cy="3333750"/>
            <a:chOff x="381000" y="1143000"/>
            <a:chExt cx="4095900" cy="3333750"/>
          </a:xfrm>
        </p:grpSpPr>
        <p:sp>
          <p:nvSpPr>
            <p:cNvPr id="376" name="Google Shape;376;p25"/>
            <p:cNvSpPr/>
            <p:nvPr/>
          </p:nvSpPr>
          <p:spPr>
            <a:xfrm>
              <a:off x="381000" y="142875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7" name="Google Shape;377;p25"/>
            <p:cNvPicPr preferRelativeResize="0"/>
            <p:nvPr/>
          </p:nvPicPr>
          <p:blipFill rotWithShape="1">
            <a:blip r:embed="rId3">
              <a:alphaModFix/>
            </a:blip>
            <a:srcRect b="25312" l="209" r="209" t="0"/>
            <a:stretch/>
          </p:blipFill>
          <p:spPr>
            <a:xfrm>
              <a:off x="381000" y="1143000"/>
              <a:ext cx="40959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78" name="Google Shape;378;p25"/>
            <p:cNvSpPr/>
            <p:nvPr/>
          </p:nvSpPr>
          <p:spPr>
            <a:xfrm>
              <a:off x="571500" y="3238500"/>
              <a:ext cx="952500" cy="2286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5"/>
            <p:cNvSpPr txBox="1"/>
            <p:nvPr/>
          </p:nvSpPr>
          <p:spPr>
            <a:xfrm>
              <a:off x="571500" y="323850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SERVO FORK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5"/>
            <p:cNvSpPr txBox="1"/>
            <p:nvPr/>
          </p:nvSpPr>
          <p:spPr>
            <a:xfrm>
              <a:off x="571500" y="3571875"/>
              <a:ext cx="3714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Servo/WebNN Experiment</a:t>
              </a:r>
              <a:endParaRPr b="1" sz="14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 u="sng">
                  <a:solidFill>
                    <a:schemeClr val="hlink"/>
                  </a:solidFill>
                  <a:latin typeface="Courier New"/>
                  <a:ea typeface="Courier New"/>
                  <a:cs typeface="Courier New"/>
                  <a:sym typeface="Courier New"/>
                  <a:hlinkClick r:id="rId4"/>
                </a:rPr>
                <a:t>github.com/gterzian/servo/tree/webnn</a:t>
              </a:r>
              <a:endParaRPr sz="900">
                <a:solidFill>
                  <a:srgbClr val="5F636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Primary integration branch for WebNN API support within the Servo browser engine, targeting native performance.</a:t>
              </a:r>
              <a:endParaRPr sz="1100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25"/>
          <p:cNvGrpSpPr/>
          <p:nvPr/>
        </p:nvGrpSpPr>
        <p:grpSpPr>
          <a:xfrm>
            <a:off x="381000" y="1238250"/>
            <a:ext cx="4095900" cy="3333750"/>
            <a:chOff x="4667250" y="1143000"/>
            <a:chExt cx="4095900" cy="3333750"/>
          </a:xfrm>
        </p:grpSpPr>
        <p:sp>
          <p:nvSpPr>
            <p:cNvPr id="382" name="Google Shape;382;p25"/>
            <p:cNvSpPr/>
            <p:nvPr/>
          </p:nvSpPr>
          <p:spPr>
            <a:xfrm>
              <a:off x="4667250" y="142875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9525">
              <a:solidFill>
                <a:srgbClr val="DAD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3" name="Google Shape;383;p25"/>
            <p:cNvPicPr preferRelativeResize="0"/>
            <p:nvPr/>
          </p:nvPicPr>
          <p:blipFill rotWithShape="1">
            <a:blip r:embed="rId5">
              <a:alphaModFix/>
            </a:blip>
            <a:srcRect b="25312" l="209" r="209" t="0"/>
            <a:stretch/>
          </p:blipFill>
          <p:spPr>
            <a:xfrm>
              <a:off x="4667250" y="1143000"/>
              <a:ext cx="40959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84" name="Google Shape;384;p25"/>
            <p:cNvSpPr/>
            <p:nvPr/>
          </p:nvSpPr>
          <p:spPr>
            <a:xfrm>
              <a:off x="4857750" y="3238500"/>
              <a:ext cx="1143000" cy="228600"/>
            </a:xfrm>
            <a:prstGeom prst="roundRect">
              <a:avLst>
                <a:gd fmla="val 50000" name="adj"/>
              </a:avLst>
            </a:prstGeom>
            <a:solidFill>
              <a:srgbClr val="1E8E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5"/>
            <p:cNvSpPr txBox="1"/>
            <p:nvPr/>
          </p:nvSpPr>
          <p:spPr>
            <a:xfrm>
              <a:off x="4857750" y="323850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RUST ECOSYSTEM</a:t>
              </a:r>
              <a:endPara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5"/>
            <p:cNvSpPr txBox="1"/>
            <p:nvPr/>
          </p:nvSpPr>
          <p:spPr>
            <a:xfrm>
              <a:off x="4857750" y="3571875"/>
              <a:ext cx="37149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90">
                  <a:solidFill>
                    <a:srgbClr val="1A73E8"/>
                  </a:solidFill>
                  <a:latin typeface="Arial"/>
                  <a:ea typeface="Arial"/>
                  <a:cs typeface="Arial"/>
                  <a:sym typeface="Arial"/>
                </a:rPr>
                <a:t>RustNN</a:t>
              </a:r>
              <a:endParaRPr b="1" sz="119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65" u="sng">
                  <a:solidFill>
                    <a:schemeClr val="hlink"/>
                  </a:solidFill>
                  <a:latin typeface="Courier New"/>
                  <a:ea typeface="Courier New"/>
                  <a:cs typeface="Courier New"/>
                  <a:sym typeface="Courier New"/>
                  <a:hlinkClick r:id="rId6"/>
                </a:rPr>
                <a:t>github.com/rustnn</a:t>
              </a:r>
              <a:endParaRPr sz="765">
                <a:solidFill>
                  <a:srgbClr val="5F636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35">
                  <a:solidFill>
                    <a:srgbClr val="3C4043"/>
                  </a:solidFill>
                  <a:latin typeface="Arial"/>
                  <a:ea typeface="Arial"/>
                  <a:cs typeface="Arial"/>
                  <a:sym typeface="Arial"/>
                </a:rPr>
                <a:t>A multi-project workspace for W3C WebNN implementation, providing a core Rust library, ONNX utilities, and language bindings.</a:t>
              </a:r>
              <a:endParaRPr sz="935">
                <a:solidFill>
                  <a:srgbClr val="3C40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uturistic and clean technical visualization of a neural network or a digital brain, glowing with soft blue and green light, minimalist Google aesthetic, white background." id="392" name="Google Shape;3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857250"/>
            <a:ext cx="3429000" cy="342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pic>
        <p:nvPicPr>
          <p:cNvPr id="393" name="Google Shape;39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0613" y="804863"/>
            <a:ext cx="3533700" cy="35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6"/>
          <p:cNvSpPr txBox="1"/>
          <p:nvPr/>
        </p:nvSpPr>
        <p:spPr>
          <a:xfrm>
            <a:off x="571500" y="1524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1A73E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sz="48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571500" y="2286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Advancing Web AI with Rust</a:t>
            </a:r>
            <a:endParaRPr b="0" sz="1800">
              <a:solidFill>
                <a:srgbClr val="5F63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71500" y="3238500"/>
            <a:ext cx="1905000" cy="96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26" title="21114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525" y="3778300"/>
            <a:ext cx="253975" cy="2539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398" name="Google Shape;398;p26"/>
          <p:cNvSpPr txBox="1"/>
          <p:nvPr/>
        </p:nvSpPr>
        <p:spPr>
          <a:xfrm>
            <a:off x="612988" y="3248100"/>
            <a:ext cx="381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Contact &amp; Contribution</a:t>
            </a:r>
            <a:endParaRPr b="1" sz="1400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C4043"/>
                </a:solidFill>
              </a:rPr>
              <a:t>gupta.shubham@huawei.com</a:t>
            </a:r>
            <a:endParaRPr b="1">
              <a:solidFill>
                <a:srgbClr val="2021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github.com/shubhamg13</a:t>
            </a:r>
            <a:endParaRPr sz="1100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l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inkedin/in/shubhamg13</a:t>
            </a:r>
            <a:endParaRPr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shubham.gupta@chromium.org</a:t>
            </a:r>
            <a:endParaRPr sz="1100">
              <a:solidFill>
                <a:srgbClr val="3C40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26" title="czNmcy1wcml2YXRlL3Jhd3BpeGVsX2ltYWdlcy93ZWJzaXRlX2NvbnRlbnQvbHIvdjk4Mi1kMS0xMC5wbmc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7525" y="4032275"/>
            <a:ext cx="253975" cy="25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6" title="images.jpe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7525" y="4286250"/>
            <a:ext cx="253975" cy="2539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